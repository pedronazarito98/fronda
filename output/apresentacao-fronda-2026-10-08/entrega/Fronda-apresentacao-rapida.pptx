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90fe776d7140b0" /><Relationship Type="http://schemas.openxmlformats.org/officeDocument/2006/relationships/extended-properties" Target="/docProps/app.xml" Id="R630ffb14397343ed" /><Relationship Type="http://schemas.openxmlformats.org/officeDocument/2006/relationships/officeDocument" Target="/ppt/presentation.xml" Id="R7bdbd570b64749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7d4c6a0f11476e"/>
  </p:sldMasterIdLst>
  <p:notesMasterIdLst>
    <p:notesMasterId xmlns:r="http://schemas.openxmlformats.org/officeDocument/2006/relationships" r:id="Rc4a9bdc7a65e4423"/>
  </p:notesMasterIdLst>
  <p:sldIdLst>
    <p:sldId xmlns:r="http://schemas.openxmlformats.org/officeDocument/2006/relationships" id="256" r:id="R2f2a7660d7754b03"/>
    <p:sldId xmlns:r="http://schemas.openxmlformats.org/officeDocument/2006/relationships" id="257" r:id="Rc584c13cd40e4468"/>
    <p:sldId xmlns:r="http://schemas.openxmlformats.org/officeDocument/2006/relationships" id="258" r:id="R15cf76639e0f4ff6"/>
    <p:sldId xmlns:r="http://schemas.openxmlformats.org/officeDocument/2006/relationships" id="259" r:id="R8c77d521c4db44f7"/>
    <p:sldId xmlns:r="http://schemas.openxmlformats.org/officeDocument/2006/relationships" id="260" r:id="R230675e93e7544b9"/>
    <p:sldId xmlns:r="http://schemas.openxmlformats.org/officeDocument/2006/relationships" id="261" r:id="R1d370e5c774041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63860ff86d4783" /><Relationship Type="http://schemas.openxmlformats.org/officeDocument/2006/relationships/slideMaster" Target="/ppt/slideMasters/slideMaster1.xml" Id="Ra77d4c6a0f11476e" /><Relationship Type="http://schemas.openxmlformats.org/officeDocument/2006/relationships/notesMaster" Target="/ppt/notesMasters/notesMaster1.xml" Id="Rc4a9bdc7a65e4423" /><Relationship Type="http://schemas.openxmlformats.org/officeDocument/2006/relationships/presProps" Target="/ppt/presProps.xml" Id="Re4f0f03dbbec4cae" /><Relationship Type="http://schemas.openxmlformats.org/officeDocument/2006/relationships/tableStyles" Target="/ppt/tableStyles.xml" Id="Rff96065ccb8a43f9" /><Relationship Type="http://schemas.openxmlformats.org/officeDocument/2006/relationships/slide" Target="/ppt/slides/slide1.xml" Id="R2f2a7660d7754b03" /><Relationship Type="http://schemas.openxmlformats.org/officeDocument/2006/relationships/slide" Target="/ppt/slides/slide2.xml" Id="Rc584c13cd40e4468" /><Relationship Type="http://schemas.openxmlformats.org/officeDocument/2006/relationships/slide" Target="/ppt/slides/slide3.xml" Id="R15cf76639e0f4ff6" /><Relationship Type="http://schemas.openxmlformats.org/officeDocument/2006/relationships/slide" Target="/ppt/slides/slide4.xml" Id="R8c77d521c4db44f7" /><Relationship Type="http://schemas.openxmlformats.org/officeDocument/2006/relationships/slide" Target="/ppt/slides/slide5.xml" Id="R230675e93e7544b9" /><Relationship Type="http://schemas.openxmlformats.org/officeDocument/2006/relationships/slide" Target="/ppt/slides/slide6.xml" Id="R1d370e5c774041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11e59ca09742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9cd43212434f7e" /><Relationship Type="http://schemas.openxmlformats.org/officeDocument/2006/relationships/notesMaster" Target="/ppt/notesMasters/notesMaster1.xml" Id="Ra481bb95af3b45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4dfb4994db4123" /><Relationship Type="http://schemas.openxmlformats.org/officeDocument/2006/relationships/notesMaster" Target="/ppt/notesMasters/notesMaster1.xml" Id="R07c2dc142f3f45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233ad260d942ff" /><Relationship Type="http://schemas.openxmlformats.org/officeDocument/2006/relationships/notesMaster" Target="/ppt/notesMasters/notesMaster1.xml" Id="R1be5885317db48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fc948556eb4c6b" /><Relationship Type="http://schemas.openxmlformats.org/officeDocument/2006/relationships/notesMaster" Target="/ppt/notesMasters/notesMaster1.xml" Id="R26f85a97461b4e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ca5c7d61104892" /><Relationship Type="http://schemas.openxmlformats.org/officeDocument/2006/relationships/notesMaster" Target="/ppt/notesMasters/notesMaster1.xml" Id="R6901117573834a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a1d1b843c54a56" /><Relationship Type="http://schemas.openxmlformats.org/officeDocument/2006/relationships/notesMaster" Target="/ppt/notesMasters/notesMaster1.xml" Id="R528112cb4ef645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Fronda é um aplicativo nativo de macOS que estou desenvolvendo para organizar o trabalho com agentes de programação. A proposta é partir de uma tarefa clara, acompanhar o que a IA está fazendo e chegar a alterações que eu consigo revisar com evidências. Ele reúne esse percurso em uma interface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 consultadas em 08/10/2026:</a:t>
            </a:r>
          </a:p>
          <a:p xmlns:a="http://schemas.openxmlformats.org/drawingml/2006/main">
            <a:r>
              <a:t>README.md: definição do produto e primeiro fluxo.</a:t>
            </a:r>
          </a:p>
          <a:p xmlns:a="http://schemas.openxmlformats.org/drawingml/2006/main">
            <a:r>
              <a:t>Resources/FrondaBrand.md: identidade aprovada.</a:t>
            </a:r>
          </a:p>
          <a:p xmlns:a="http://schemas.openxmlformats.org/drawingml/2006/main">
            <a:r>
              <a:t>Resources/FrondaWordmark.png e Resources/FrondaMascot.png: artes originais.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Eu defino o objetivo e o que precisa ser atendido. O Fronda organiza o contexto e o plano, aciona o executor escolhido e reúne o resultado para revisão. Já existem fluxos para atividades comuns do desenvolvimento, como bugs, interface e revisão de PR. A interface oferece Codex e Claude Code. O README ainda registra a autenticação e a validação real de Claude como pendentes.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 consultadas em 08/10/2026:</a:t>
            </a:r>
          </a:p>
          <a:p xmlns:a="http://schemas.openxmlformats.org/drawingml/2006/main">
            <a:r>
              <a:t>README.md: primeiro fluxo, providers e limites atuais.</a:t>
            </a:r>
          </a:p>
          <a:p xmlns:a="http://schemas.openxmlformats.org/drawingml/2006/main">
            <a:r>
              <a:t>Sources/HarnessDomain/Runbook.swift: fluxos disponíveis.</a:t>
            </a:r>
          </a:p>
          <a:p xmlns:a="http://schemas.openxmlformats.org/drawingml/2006/main">
            <a:r>
              <a:t>Sources/HarnessCore/RunExecution.swift: preparação 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o percurso resumido. A tarefa passa pela preparação do contexto, investigação, implementação, revisão e conclusão. Nas tarefas de escrita, o Fronda usa uma worktree, que é uma cópia isolada do repositório. O quadro acompanha a etapa real, inclusive quando há pausa ou impedimento. Contexto e plano têm aprovações próprias. Uma entrega só entra em concluído depois do encerramento, e o fluxo detalhado também registra validação, revisão e evidências.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 consultadas em 08/10/2026:</a:t>
            </a:r>
          </a:p>
          <a:p xmlns:a="http://schemas.openxmlformats.org/drawingml/2006/main">
            <a:r>
              <a:t>README.md: primeiro fluxo e worktree exclusiva.</a:t>
            </a:r>
          </a:p>
          <a:p xmlns:a="http://schemas.openxmlformats.org/drawingml/2006/main">
            <a:r>
              <a:t>Sources/HarnessDomain/Runbook.swift: cadeia de etapas.</a:t>
            </a:r>
          </a:p>
          <a:p xmlns:a="http://schemas.openxmlformats.org/drawingml/2006/main">
            <a:r>
              <a:t>Sources/HarnessUI/Views/Runs/RunBoardStage.swift: classificação real das tarefas.</a:t>
            </a:r>
          </a:p>
          <a:p xmlns:a="http://schemas.openxmlformats.org/drawingml/2006/main">
            <a:r>
              <a:t>docs/WORKSPACE-TABS-KANBAN.md: quadro e conclusão.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 vez de depender só da conversa com o agente, consigo abrir o contexto enviado, ver as mudanças por arquivo, conferir os comandos de validação e acompanhar decisões pendentes. O consumo mostra tokens reportados pelo executor, separado das estimativas de contexto. Não estou apresentando uma medição de economia ou produtividade. O app também permite usar abas e painéis lado a lado para comparar essas informações.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 consultadas em 08/10/2026:</a:t>
            </a:r>
          </a:p>
          <a:p xmlns:a="http://schemas.openxmlformats.org/drawingml/2006/main">
            <a:r>
              <a:t>README.md: contexto inspecionável, diff, validações e orçamento.</a:t>
            </a:r>
          </a:p>
          <a:p xmlns:a="http://schemas.openxmlformats.org/drawingml/2006/main">
            <a:r>
              <a:t>Sources/HarnessUI/Views/TokensView.swift: consumo reportado e estimativas distintas.</a:t>
            </a:r>
          </a:p>
          <a:p xmlns:a="http://schemas.openxmlformats.org/drawingml/2006/main">
            <a:r>
              <a:t>Sources/HarnessCore/ValidationReview.swift: critérios de revisão.</a:t>
            </a:r>
          </a:p>
          <a:p xmlns:a="http://schemas.openxmlformats.org/drawingml/2006/main">
            <a:r>
              <a:t>docs/WORKSPACE-TABS-KANBAN.md: abas e painéis.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exemplo seria uma tela que trava ao salvar. Eu descrevo o problema e os critérios, como salvar sem travar e preservar os dados. No fluxo de bug, o Fronda organiza investigação, reprodução, correção, validação e revisão. O resultado esperado é um conjunto de alterações acompanhado de evidências para eu conferir. Este exemplo não representa uma execução real. Commit, push e abertura de PR são ações separadas, com confirmação individual.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 consultadas em 08/10/2026:</a:t>
            </a:r>
          </a:p>
          <a:p xmlns:a="http://schemas.openxmlformats.org/drawingml/2006/main">
            <a:r>
              <a:t>Sources/HarnessDomain/Runbook.swift: fluxo Corrigir bug.</a:t>
            </a:r>
          </a:p>
          <a:p xmlns:a="http://schemas.openxmlformats.org/drawingml/2006/main">
            <a:r>
              <a:t>Sources/HarnessCore/ValidationReview.swift: revisão e critérios com evidências.</a:t>
            </a:r>
          </a:p>
          <a:p xmlns:a="http://schemas.openxmlformats.org/drawingml/2006/main">
            <a:r>
              <a:t>README.md: operações externas com confirmação individual.</a:t>
            </a:r>
          </a:p>
          <a:p xmlns:a="http://schemas.openxmlformats.org/drawingml/2006/main">
            <a:r>
              <a:t>Cenário do formulário: exemplo ilustrativo criado para esta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minha sugestão é experimentar com um projeto conhecido e uma tarefa pequena, acompanhando a revisão juntos. O que faz sentido avaliar é se o processo deixa a revisão mais clara, evita retrabalho e ajuda no tempo até a entrega. Esses ganhos ainda precisam ser medidos. Hoje existe uma implementação local para macOS. A documentação do projeto ainda registra validações pendentes para Claude, integrações remotas e distribuição assinada e notarizada.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 consultadas em 08/10/2026:</a:t>
            </a:r>
          </a:p>
          <a:p xmlns:a="http://schemas.openxmlformats.org/drawingml/2006/main">
            <a:r>
              <a:t>Proposta de piloto: sugestão para discussão, sem resultados quantitativos atribuídos.</a:t>
            </a:r>
          </a:p>
          <a:p xmlns:a="http://schemas.openxmlformats.org/drawingml/2006/main">
            <a:r>
              <a:t>README.md: estado da implementação e pendências de aceite.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fc8035b7349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04645ea9c4e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6e97d364e343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05109949845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8106b14b9449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2b8df780645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8C8841-0121-43C9-9A04-1C79DDFB10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122A0E-6091-4F89-9DF4-2C7D89AB2D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596CB9-0A3B-4C55-8967-BE99F01686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033B29-2DCD-461A-B72B-68A738DBC5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49B91B-1120-4E23-9FDA-1D873225B8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4E9088-7CBE-4DD4-91E3-59889EC52F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F42F1B-30BB-41A4-9541-E2BF49FEDC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57AB58-B928-47C2-86CD-883FBC7B0E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7786BB-50AD-4961-A3BC-CDC890A4D4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C46BF3-E6CE-4623-82EC-D040019827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ebb7c1fee44d73" /><Relationship Type="http://schemas.openxmlformats.org/officeDocument/2006/relationships/slideLayout" Target="/ppt/slideLayouts/slideLayout1.xml" Id="Re2721f2f0ef84fce" /><Relationship Type="http://schemas.openxmlformats.org/officeDocument/2006/relationships/slideLayout" Target="/ppt/slideLayouts/slideLayout2.xml" Id="R7edc7dd049e5432a" /><Relationship Type="http://schemas.openxmlformats.org/officeDocument/2006/relationships/slideLayout" Target="/ppt/slideLayouts/slideLayout3.xml" Id="Rbea7c99f03cc4b4e" /><Relationship Type="http://schemas.openxmlformats.org/officeDocument/2006/relationships/slideLayout" Target="/ppt/slideLayouts/slideLayout4.xml" Id="R7fe9ff6350a34b76" /><Relationship Type="http://schemas.openxmlformats.org/officeDocument/2006/relationships/slideLayout" Target="/ppt/slideLayouts/slideLayout5.xml" Id="Ree6bd5c1016f4ca4" /><Relationship Type="http://schemas.openxmlformats.org/officeDocument/2006/relationships/slideLayout" Target="/ppt/slideLayouts/slideLayout6.xml" Id="Rf54187e8cdae41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721f2f0ef84fce"/>
    <p:sldLayoutId xmlns:r="http://schemas.openxmlformats.org/officeDocument/2006/relationships" id="2147483650" r:id="R7edc7dd049e5432a"/>
    <p:sldLayoutId xmlns:r="http://schemas.openxmlformats.org/officeDocument/2006/relationships" id="2147483651" r:id="Rbea7c99f03cc4b4e"/>
    <p:sldLayoutId xmlns:r="http://schemas.openxmlformats.org/officeDocument/2006/relationships" id="2147483652" r:id="R7fe9ff6350a34b76"/>
    <p:sldLayoutId xmlns:r="http://schemas.openxmlformats.org/officeDocument/2006/relationships" id="2147483653" r:id="Ree6bd5c1016f4ca4"/>
    <p:sldLayoutId xmlns:r="http://schemas.openxmlformats.org/officeDocument/2006/relationships" id="2147483654" r:id="Rf54187e8cdae41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faef22700f4125" /><Relationship Type="http://schemas.openxmlformats.org/officeDocument/2006/relationships/image" Target="/ppt/media/image.png" Id="R7aa743a6a0354310" /><Relationship Type="http://schemas.openxmlformats.org/officeDocument/2006/relationships/image" Target="/ppt/media/image2.png" Id="Rc61b69d29f95422e" /><Relationship Type="http://schemas.openxmlformats.org/officeDocument/2006/relationships/notesSlide" Target="/ppt/notesSlides/notesSlide1.xml" Id="R2271f4020cc44b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62069729474953" /><Relationship Type="http://schemas.openxmlformats.org/officeDocument/2006/relationships/notesSlide" Target="/ppt/notesSlides/notesSlide2.xml" Id="Rbca06b77a3c348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4edacae91b4f5b" /><Relationship Type="http://schemas.openxmlformats.org/officeDocument/2006/relationships/notesSlide" Target="/ppt/notesSlides/notesSlide3.xml" Id="R76ac67b77b9344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b916e7c12e4ef1" /><Relationship Type="http://schemas.openxmlformats.org/officeDocument/2006/relationships/notesSlide" Target="/ppt/notesSlides/notesSlide4.xml" Id="R758e873d58414c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50eccc838b42f6" /><Relationship Type="http://schemas.openxmlformats.org/officeDocument/2006/relationships/notesSlide" Target="/ppt/notesSlides/notesSlide5.xml" Id="R87a80f57d52346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3a8c47a6484766" /><Relationship Type="http://schemas.openxmlformats.org/officeDocument/2006/relationships/notesSlide" Target="/ppt/notesSlides/notesSlide6.xml" Id="R5f6ae38434804d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4EE3D-F472-4CE4-8F79-FEBF74C246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743a6a0354310"/>
          <a:stretch xmlns:a="http://schemas.openxmlformats.org/drawingml/2006/main"/>
        </p:blipFill>
        <p:spPr>
          <a:xfrm xmlns:a="http://schemas.openxmlformats.org/drawingml/2006/main">
            <a:off x="457200" y="723901"/>
            <a:ext cx="6057900" cy="2584073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F7959-578D-44C8-803F-40F7EF101D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b69d29f95422e"/>
          <a:stretch xmlns:a="http://schemas.openxmlformats.org/drawingml/2006/main"/>
        </p:blipFill>
        <p:spPr>
          <a:xfrm xmlns:a="http://schemas.openxmlformats.org/drawingml/2006/main">
            <a:off x="6896100" y="895350"/>
            <a:ext cx="4610100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802CC03-90ED-4018-9957-09B82E2F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90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IA no desenvolvimento,</a:t>
            </a:r>
          </a:p>
          <a:p xmlns:a="http://schemas.openxmlformats.org/drawingml/2006/main">
            <a:pPr algn="l">
              <a:defRPr sz="367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com etapas e revisão</a:t>
            </a:r>
          </a:p>
        </p:txBody>
      </p:sp>
      <p:sp>
        <p:nvSpPr>
          <p:cNvPr id="4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C76A468C-DA1D-41DF-90A1-572EB770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571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Um app de macOS para conduzir</a:t>
            </a:r>
          </a:p>
          <a:p xmlns:a="http://schemas.openxmlformats.org/drawingml/2006/main">
            <a:pPr algn="l">
              <a:defRPr sz="2100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tarefas de código com agentes de IA.</a:t>
            </a:r>
          </a:p>
        </p:txBody>
      </p:sp>
    </p:spTree>
    <p:extLst>
      <p:ext uri="{BB962C8B-B14F-4D97-AF65-F5344CB8AC3E}">
        <p14:creationId xmlns:p14="http://schemas.microsoft.com/office/powerpoint/2010/main" val="38301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4CDD0-623F-4234-B6A0-09334ED2C834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86800" y="36099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48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BC2C1-A7CF-4C62-9B50-0E13213278C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67400" y="36099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48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C123E-9953-4480-BD49-79FE258770F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48000" y="36099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48"/>
            </a:solidFill>
            <a:prstDash val="solid"/>
            <a:tailEnd type="triangle" w="med" len="med"/>
          </a:ln>
        </p:spPr>
      </p:cxnSp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CF2882-334A-4A92-8DC5-9B67843A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O papel do Fronda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14416BF-AA8F-400E-989D-A0AFE84D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Organizar o trabalho entre a pessoa, o projeto e o agente de IA.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2517F38-64B2-420B-A906-1F7BECA6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98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ole-node-0">
            <a:extLst xmlns:a="http://schemas.openxmlformats.org/drawingml/2006/main">
              <a:ext uri="{FF2B5EF4-FFF2-40B4-BE49-F238E27FC236}">
                <a16:creationId xmlns:a16="http://schemas.microsoft.com/office/drawing/2014/main" id="{E6C1C977-6FE2-43E7-AB6A-08388DFD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3622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19050">
            <a:solidFill>
              <a:srgbClr val="DFE1D6"/>
            </a:solidFill>
            <a:prstDash val="solid"/>
          </a:ln>
        </p:spPr>
      </p:sp>
      <p:sp>
        <p:nvSpPr>
          <p:cNvPr id="5" name="role-title-0">
            <a:extLst xmlns:a="http://schemas.openxmlformats.org/drawingml/2006/main">
              <a:ext uri="{FF2B5EF4-FFF2-40B4-BE49-F238E27FC236}">
                <a16:creationId xmlns:a16="http://schemas.microsoft.com/office/drawing/2014/main" id="{55A22795-F6B0-4DA8-93A8-CC7C4D7C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Você</a:t>
            </a:r>
          </a:p>
        </p:txBody>
      </p:sp>
      <p:sp>
        <p:nvSpPr>
          <p:cNvPr id="6" name="role-body-0">
            <a:extLst xmlns:a="http://schemas.openxmlformats.org/drawingml/2006/main">
              <a:ext uri="{FF2B5EF4-FFF2-40B4-BE49-F238E27FC236}">
                <a16:creationId xmlns:a16="http://schemas.microsoft.com/office/drawing/2014/main" id="{1C2BAC89-8EF2-4DD9-8E53-CC002B44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71875"/>
            <a:ext cx="2076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D18"/>
                </a:solidFill>
                <a:latin typeface="Arial"/>
                <a:ea typeface="Arial"/>
                <a:cs typeface="Arial"/>
              </a:rPr>
              <a:t>Objetivo</a:t>
            </a:r>
          </a:p>
          <a:p xmlns:a="http://schemas.openxmlformats.org/drawingml/2006/main">
            <a:pPr algn="ctr">
              <a:defRPr sz="1950" b="0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D18"/>
                </a:solidFill>
                <a:latin typeface="Arial"/>
                <a:ea typeface="Arial"/>
                <a:cs typeface="Arial"/>
              </a:rPr>
              <a:t>e critérios</a:t>
            </a:r>
          </a:p>
        </p:txBody>
      </p:sp>
      <p:sp>
        <p:nvSpPr>
          <p:cNvPr id="7" name="role-node-1">
            <a:extLst xmlns:a="http://schemas.openxmlformats.org/drawingml/2006/main">
              <a:ext uri="{FF2B5EF4-FFF2-40B4-BE49-F238E27FC236}">
                <a16:creationId xmlns:a16="http://schemas.microsoft.com/office/drawing/2014/main" id="{E98E6514-3041-4A3E-9862-DA288A6B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09850"/>
            <a:ext cx="23622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526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le-title-1">
            <a:extLst xmlns:a="http://schemas.openxmlformats.org/drawingml/2006/main">
              <a:ext uri="{FF2B5EF4-FFF2-40B4-BE49-F238E27FC236}">
                <a16:creationId xmlns:a16="http://schemas.microsoft.com/office/drawing/2014/main" id="{6B51F482-E5D5-41E9-A412-6E66F982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1465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3ED"/>
                </a:solidFill>
                <a:latin typeface="Arial"/>
                <a:ea typeface="Arial"/>
                <a:cs typeface="Arial"/>
              </a:rPr>
              <a:t>Fronda</a:t>
            </a:r>
          </a:p>
        </p:txBody>
      </p:sp>
      <p:sp>
        <p:nvSpPr>
          <p:cNvPr id="9" name="role-body-1">
            <a:extLst xmlns:a="http://schemas.openxmlformats.org/drawingml/2006/main">
              <a:ext uri="{FF2B5EF4-FFF2-40B4-BE49-F238E27FC236}">
                <a16:creationId xmlns:a16="http://schemas.microsoft.com/office/drawing/2014/main" id="{D00D007F-9978-46C1-B0D8-BF84E3E5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571875"/>
            <a:ext cx="2076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F5F3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ED"/>
                </a:solidFill>
                <a:latin typeface="Arial"/>
                <a:ea typeface="Arial"/>
                <a:cs typeface="Arial"/>
              </a:rPr>
              <a:t>Contexto e plano</a:t>
            </a:r>
          </a:p>
          <a:p xmlns:a="http://schemas.openxmlformats.org/drawingml/2006/main">
            <a:pPr algn="ctr">
              <a:defRPr sz="1950" b="0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ED"/>
                </a:solidFill>
                <a:latin typeface="Arial"/>
                <a:ea typeface="Arial"/>
                <a:cs typeface="Arial"/>
              </a:rPr>
              <a:t>para a tarefa</a:t>
            </a:r>
          </a:p>
        </p:txBody>
      </p:sp>
      <p:sp>
        <p:nvSpPr>
          <p:cNvPr id="10" name="role-node-2">
            <a:extLst xmlns:a="http://schemas.openxmlformats.org/drawingml/2006/main">
              <a:ext uri="{FF2B5EF4-FFF2-40B4-BE49-F238E27FC236}">
                <a16:creationId xmlns:a16="http://schemas.microsoft.com/office/drawing/2014/main" id="{05C6729A-5EA2-4CF8-B91C-2C46F50F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9850"/>
            <a:ext cx="23622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6EBDD"/>
          </a:solidFill>
          <a:ln xmlns:a="http://schemas.openxmlformats.org/drawingml/2006/main" w="19050">
            <a:solidFill>
              <a:srgbClr val="DFE1D6"/>
            </a:solidFill>
            <a:prstDash val="solid"/>
          </a:ln>
        </p:spPr>
      </p:sp>
      <p:sp>
        <p:nvSpPr>
          <p:cNvPr id="11" name="role-title-2">
            <a:extLst xmlns:a="http://schemas.openxmlformats.org/drawingml/2006/main">
              <a:ext uri="{FF2B5EF4-FFF2-40B4-BE49-F238E27FC236}">
                <a16:creationId xmlns:a16="http://schemas.microsoft.com/office/drawing/2014/main" id="{0A4394D0-DB51-4CC0-9BEE-8A22D2D1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Agente de IA</a:t>
            </a:r>
          </a:p>
        </p:txBody>
      </p:sp>
      <p:sp>
        <p:nvSpPr>
          <p:cNvPr id="12" name="role-body-2">
            <a:extLst xmlns:a="http://schemas.openxmlformats.org/drawingml/2006/main">
              <a:ext uri="{FF2B5EF4-FFF2-40B4-BE49-F238E27FC236}">
                <a16:creationId xmlns:a16="http://schemas.microsoft.com/office/drawing/2014/main" id="{1AC3EBF5-E468-4E35-BDF8-FA42C769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71875"/>
            <a:ext cx="2076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D18"/>
                </a:solidFill>
                <a:latin typeface="Arial"/>
                <a:ea typeface="Arial"/>
                <a:cs typeface="Arial"/>
              </a:rPr>
              <a:t>Codex ou</a:t>
            </a:r>
          </a:p>
          <a:p xmlns:a="http://schemas.openxmlformats.org/drawingml/2006/main">
            <a:pPr algn="ctr">
              <a:defRPr sz="1950" b="0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D18"/>
                </a:solidFill>
                <a:latin typeface="Arial"/>
                <a:ea typeface="Arial"/>
                <a:cs typeface="Arial"/>
              </a:rPr>
              <a:t>Claude Code</a:t>
            </a:r>
          </a:p>
        </p:txBody>
      </p:sp>
      <p:sp>
        <p:nvSpPr>
          <p:cNvPr id="13" name="role-node-3">
            <a:extLst xmlns:a="http://schemas.openxmlformats.org/drawingml/2006/main">
              <a:ext uri="{FF2B5EF4-FFF2-40B4-BE49-F238E27FC236}">
                <a16:creationId xmlns:a16="http://schemas.microsoft.com/office/drawing/2014/main" id="{0BA960B9-7540-46EC-9697-F283A2FB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23622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19050">
            <a:solidFill>
              <a:srgbClr val="DFE1D6"/>
            </a:solidFill>
            <a:prstDash val="solid"/>
          </a:ln>
        </p:spPr>
      </p:sp>
      <p:sp>
        <p:nvSpPr>
          <p:cNvPr id="14" name="role-title-3">
            <a:extLst xmlns:a="http://schemas.openxmlformats.org/drawingml/2006/main">
              <a:ext uri="{FF2B5EF4-FFF2-40B4-BE49-F238E27FC236}">
                <a16:creationId xmlns:a16="http://schemas.microsoft.com/office/drawing/2014/main" id="{E2C849AB-AC23-4B98-8B97-396A5D30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Você revisa</a:t>
            </a:r>
          </a:p>
        </p:txBody>
      </p:sp>
      <p:sp>
        <p:nvSpPr>
          <p:cNvPr id="15" name="role-body-3">
            <a:extLst xmlns:a="http://schemas.openxmlformats.org/drawingml/2006/main">
              <a:ext uri="{FF2B5EF4-FFF2-40B4-BE49-F238E27FC236}">
                <a16:creationId xmlns:a16="http://schemas.microsoft.com/office/drawing/2014/main" id="{B647FF32-B181-4FAD-8B69-E6E4D11E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571875"/>
            <a:ext cx="2076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D18"/>
                </a:solidFill>
                <a:latin typeface="Arial"/>
                <a:ea typeface="Arial"/>
                <a:cs typeface="Arial"/>
              </a:rPr>
              <a:t>Alterações</a:t>
            </a:r>
          </a:p>
          <a:p xmlns:a="http://schemas.openxmlformats.org/drawingml/2006/main">
            <a:pPr algn="ctr">
              <a:defRPr sz="1950" b="0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D18"/>
                </a:solidFill>
                <a:latin typeface="Arial"/>
                <a:ea typeface="Arial"/>
                <a:cs typeface="Arial"/>
              </a:rPr>
              <a:t>e evidências</a:t>
            </a:r>
          </a:p>
        </p:txBody>
      </p:sp>
      <p:sp>
        <p:nvSpPr>
          <p:cNvPr id="19" name="use-cases">
            <a:extLst xmlns:a="http://schemas.openxmlformats.org/drawingml/2006/main">
              <a:ext uri="{FF2B5EF4-FFF2-40B4-BE49-F238E27FC236}">
                <a16:creationId xmlns:a16="http://schemas.microsoft.com/office/drawing/2014/main" id="{D43348CA-E968-463D-AA50-BB4C3FD1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5260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5260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048"/>
                </a:solidFill>
                <a:latin typeface="Arial"/>
                <a:ea typeface="Arial"/>
                <a:cs typeface="Arial"/>
              </a:rPr>
              <a:t>Fluxos para corrigir bugs, implementar UI, revisar PRs e explorar código.</a:t>
            </a:r>
          </a:p>
        </p:txBody>
      </p:sp>
    </p:spTree>
    <p:extLst>
      <p:ext uri="{BB962C8B-B14F-4D97-AF65-F5344CB8AC3E}">
        <p14:creationId xmlns:p14="http://schemas.microsoft.com/office/powerpoint/2010/main" val="997904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91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FF2A1D-8676-4F19-89C1-7F72868FBB23}"/>
              </a:ext>
            </a:extLst>
          </p:cNvPr>
          <p:cNvCxnSpPr>
            <a:stCxn xmlns:a="http://schemas.openxmlformats.org/drawingml/2006/main" id="13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9020175" y="32099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DCCA7"/>
            </a:solidFill>
            <a:prstDash val="solid"/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F8FC3-6CE3-4113-B918-ADB58911FBC8}"/>
              </a:ext>
            </a:extLst>
          </p:cNvPr>
          <p:cNvCxnSpPr>
            <a:stCxn xmlns:a="http://schemas.openxmlformats.org/drawingml/2006/main" id="10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6715125" y="32099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DCCA7"/>
            </a:solidFill>
            <a:prstDash val="solid"/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C0683E-BFAE-4AD9-97F3-730272BF79DC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4410075" y="32099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DCCA7"/>
            </a:solidFill>
            <a:prstDash val="solid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40A8C-6B2C-4753-8D60-7D6CD67C6C06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105025" y="32099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DCCA7"/>
            </a:solidFill>
            <a:prstDash val="solid"/>
            <a:tailEnd type="triangle" w="med" len="med"/>
          </a:ln>
        </p:spPr>
      </p:cxnSp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8E06DC-FE37-4021-A723-56CE9887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3ED"/>
                </a:solidFill>
                <a:latin typeface="Arial"/>
                <a:ea typeface="Arial"/>
                <a:cs typeface="Arial"/>
              </a:rPr>
              <a:t>O percurso de uma tarefa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50EAE6-044F-4225-A869-C98C0AEF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4A4"/>
                </a:solidFill>
                <a:latin typeface="Arial"/>
                <a:ea typeface="Arial"/>
                <a:cs typeface="Arial"/>
              </a:rPr>
              <a:t>Etapas visíveis, com aprovações antes de avançar.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B41BDA9-66A9-4B9B-A2BE-82DF615E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98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CB4A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C858A893-9F12-4AFD-AE4F-E6D860A3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6765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CCA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37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37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805759A2-7BE3-49B0-8D7C-9166BE84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90975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3ED"/>
                </a:solidFill>
                <a:latin typeface="Arial"/>
                <a:ea typeface="Arial"/>
                <a:cs typeface="Arial"/>
              </a:rPr>
              <a:t>Preparar</a:t>
            </a:r>
          </a:p>
        </p:txBody>
      </p:sp>
      <p:sp>
        <p:nvSpPr>
          <p:cNvPr id="6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659FEAB0-B562-4459-A5F5-3F8E6488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81525"/>
            <a:ext cx="2076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CB4A4"/>
                </a:solidFill>
                <a:latin typeface="Arial"/>
                <a:ea typeface="Arial"/>
                <a:cs typeface="Arial"/>
              </a:rPr>
              <a:t>Projeto, objetivo</a:t>
            </a:r>
          </a:p>
          <a:p xmlns:a="http://schemas.openxmlformats.org/drawingml/2006/main">
            <a:pPr algn="ctr">
              <a:defRPr sz="1800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CB4A4"/>
                </a:solidFill>
                <a:latin typeface="Arial"/>
                <a:ea typeface="Arial"/>
                <a:cs typeface="Arial"/>
              </a:rPr>
              <a:t>e contexto</a:t>
            </a:r>
          </a:p>
        </p:txBody>
      </p:sp>
      <p:sp>
        <p:nvSpPr>
          <p:cNvPr id="7" name="stage-1">
            <a:extLst xmlns:a="http://schemas.openxmlformats.org/drawingml/2006/main">
              <a:ext uri="{FF2B5EF4-FFF2-40B4-BE49-F238E27FC236}">
                <a16:creationId xmlns:a16="http://schemas.microsoft.com/office/drawing/2014/main" id="{ED9373ED-6C31-4CBA-9AF9-3E5AED4A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6765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CCA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37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37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4E5E26C3-9F69-4823-ABF4-8E5A5666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990975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3ED"/>
                </a:solidFill>
                <a:latin typeface="Arial"/>
                <a:ea typeface="Arial"/>
                <a:cs typeface="Arial"/>
              </a:rPr>
              <a:t>Investigar</a:t>
            </a:r>
          </a:p>
        </p:txBody>
      </p:sp>
      <p:sp>
        <p:nvSpPr>
          <p:cNvPr id="9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B9E2DF99-FFAC-4E53-90A1-F97DA6E0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81525"/>
            <a:ext cx="2076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CB4A4"/>
                </a:solidFill>
                <a:latin typeface="Arial"/>
                <a:ea typeface="Arial"/>
                <a:cs typeface="Arial"/>
              </a:rPr>
              <a:t>Entender a causa</a:t>
            </a:r>
          </a:p>
          <a:p xmlns:a="http://schemas.openxmlformats.org/drawingml/2006/main">
            <a:pPr algn="ctr">
              <a:defRPr sz="1800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CB4A4"/>
                </a:solidFill>
                <a:latin typeface="Arial"/>
                <a:ea typeface="Arial"/>
                <a:cs typeface="Arial"/>
              </a:rPr>
              <a:t>e definir o plano</a:t>
            </a:r>
          </a:p>
        </p:txBody>
      </p:sp>
      <p:sp>
        <p:nvSpPr>
          <p:cNvPr id="10" name="stage-2">
            <a:extLst xmlns:a="http://schemas.openxmlformats.org/drawingml/2006/main">
              <a:ext uri="{FF2B5EF4-FFF2-40B4-BE49-F238E27FC236}">
                <a16:creationId xmlns:a16="http://schemas.microsoft.com/office/drawing/2014/main" id="{27A6217B-9935-432F-9B3B-0E349FC4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765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CCA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37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37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1B39EB1-27EB-4B4D-A815-1BD37602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90975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3ED"/>
                </a:solidFill>
                <a:latin typeface="Arial"/>
                <a:ea typeface="Arial"/>
                <a:cs typeface="Arial"/>
              </a:rPr>
              <a:t>Implementar</a:t>
            </a:r>
          </a:p>
        </p:txBody>
      </p:sp>
      <p:sp>
        <p:nvSpPr>
          <p:cNvPr id="12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873C28C6-E4B4-4CA7-8D7D-0B6DB780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81525"/>
            <a:ext cx="2076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CB4A4"/>
                </a:solidFill>
                <a:latin typeface="Arial"/>
                <a:ea typeface="Arial"/>
                <a:cs typeface="Arial"/>
              </a:rPr>
              <a:t>Alterar uma cópia</a:t>
            </a:r>
          </a:p>
          <a:p xmlns:a="http://schemas.openxmlformats.org/drawingml/2006/main">
            <a:pPr algn="ctr">
              <a:defRPr sz="1800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CB4A4"/>
                </a:solidFill>
                <a:latin typeface="Arial"/>
                <a:ea typeface="Arial"/>
                <a:cs typeface="Arial"/>
              </a:rPr>
              <a:t>isolada do código</a:t>
            </a:r>
          </a:p>
        </p:txBody>
      </p:sp>
      <p:sp>
        <p:nvSpPr>
          <p:cNvPr id="13" name="stage-3">
            <a:extLst xmlns:a="http://schemas.openxmlformats.org/drawingml/2006/main">
              <a:ext uri="{FF2B5EF4-FFF2-40B4-BE49-F238E27FC236}">
                <a16:creationId xmlns:a16="http://schemas.microsoft.com/office/drawing/2014/main" id="{B9EC4D94-B1A8-47C9-97CA-99F1A360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765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CCA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37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37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DE1F544D-6FE3-4930-ACC9-C224B00E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990975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3ED"/>
                </a:solidFill>
                <a:latin typeface="Arial"/>
                <a:ea typeface="Arial"/>
                <a:cs typeface="Arial"/>
              </a:rPr>
              <a:t>Revisar</a:t>
            </a:r>
          </a:p>
        </p:txBody>
      </p:sp>
      <p:sp>
        <p:nvSpPr>
          <p:cNvPr id="15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9ACAD9A8-F1C4-4718-81A9-B03FC98C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81525"/>
            <a:ext cx="2076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CB4A4"/>
                </a:solidFill>
                <a:latin typeface="Arial"/>
                <a:ea typeface="Arial"/>
                <a:cs typeface="Arial"/>
              </a:rPr>
              <a:t>Conferir diff</a:t>
            </a:r>
          </a:p>
          <a:p xmlns:a="http://schemas.openxmlformats.org/drawingml/2006/main">
            <a:pPr algn="ctr">
              <a:defRPr sz="1800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CB4A4"/>
                </a:solidFill>
                <a:latin typeface="Arial"/>
                <a:ea typeface="Arial"/>
                <a:cs typeface="Arial"/>
              </a:rPr>
              <a:t>e validações</a:t>
            </a:r>
          </a:p>
        </p:txBody>
      </p:sp>
      <p:sp>
        <p:nvSpPr>
          <p:cNvPr id="16" name="stage-4">
            <a:extLst xmlns:a="http://schemas.openxmlformats.org/drawingml/2006/main">
              <a:ext uri="{FF2B5EF4-FFF2-40B4-BE49-F238E27FC236}">
                <a16:creationId xmlns:a16="http://schemas.microsoft.com/office/drawing/2014/main" id="{4D0DA686-64D7-4CC7-B890-00E6B4DB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6765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F8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37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37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5B24AA2A-2E97-4F7E-888B-8309FCDC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90975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3ED"/>
                </a:solidFill>
                <a:latin typeface="Arial"/>
                <a:ea typeface="Arial"/>
                <a:cs typeface="Arial"/>
              </a:rPr>
              <a:t>Concluir</a:t>
            </a:r>
          </a:p>
        </p:txBody>
      </p:sp>
      <p:sp>
        <p:nvSpPr>
          <p:cNvPr id="18" name="stage-body-4">
            <a:extLst xmlns:a="http://schemas.openxmlformats.org/drawingml/2006/main">
              <a:ext uri="{FF2B5EF4-FFF2-40B4-BE49-F238E27FC236}">
                <a16:creationId xmlns:a16="http://schemas.microsoft.com/office/drawing/2014/main" id="{68163E76-BC5C-4D50-A6BB-E8B2B780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81525"/>
            <a:ext cx="2076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CB4A4"/>
                </a:solidFill>
                <a:latin typeface="Arial"/>
                <a:ea typeface="Arial"/>
                <a:cs typeface="Arial"/>
              </a:rPr>
              <a:t>Entrega aprovada</a:t>
            </a:r>
          </a:p>
          <a:p xmlns:a="http://schemas.openxmlformats.org/drawingml/2006/main">
            <a:pPr algn="ctr">
              <a:defRPr sz="1800" b="0">
                <a:solidFill>
                  <a:srgbClr val="ACB4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CB4A4"/>
                </a:solidFill>
                <a:latin typeface="Arial"/>
                <a:ea typeface="Arial"/>
                <a:cs typeface="Arial"/>
              </a:rPr>
              <a:t>e evidências</a:t>
            </a:r>
          </a:p>
        </p:txBody>
      </p:sp>
      <p:sp>
        <p:nvSpPr>
          <p:cNvPr id="23" name="workflow-caption">
            <a:extLst xmlns:a="http://schemas.openxmlformats.org/drawingml/2006/main">
              <a:ext uri="{FF2B5EF4-FFF2-40B4-BE49-F238E27FC236}">
                <a16:creationId xmlns:a16="http://schemas.microsoft.com/office/drawing/2014/main" id="{EEF5608F-E43E-44DD-82F5-082B6ADF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578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BDCC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BDCCA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DCCA7"/>
                </a:solidFill>
                <a:latin typeface="Arial"/>
                <a:ea typeface="Arial"/>
                <a:cs typeface="Arial"/>
              </a:rPr>
              <a:t>O quadro por projeto acompanha a etapa real de cada tarefa.</a:t>
            </a:r>
          </a:p>
        </p:txBody>
      </p:sp>
    </p:spTree>
    <p:extLst>
      <p:ext uri="{BB962C8B-B14F-4D97-AF65-F5344CB8AC3E}">
        <p14:creationId xmlns:p14="http://schemas.microsoft.com/office/powerpoint/2010/main" val="1748080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5C7A9F-18E3-4552-BC3B-066C7CE6789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524750" y="3790950"/>
            <a:ext cx="914400" cy="1638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DFE1D6"/>
            </a:solidFill>
            <a:prstDash val="soli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8B39CF-E916-4650-ABFF-E50E95BEC2F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524750" y="3790950"/>
            <a:ext cx="914400" cy="266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DFE1D6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E9E1B-1EC9-443C-B27C-901BA44A345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7524750" y="2686050"/>
            <a:ext cx="914400" cy="1104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DFE1D6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3CD57-A472-4DA7-AF47-3C9034E01A7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657600" y="3790950"/>
            <a:ext cx="723900" cy="1009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DFE1D6"/>
            </a:solidFill>
            <a:prstDash val="soli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73684-8B00-46DB-A4D0-8ADF1EC0D7C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657600" y="3048000"/>
            <a:ext cx="723900" cy="742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DFE1D6"/>
            </a:solidFill>
            <a:prstDash val="solid"/>
          </a:ln>
        </p:spPr>
      </p:cxnSp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349172-242F-40EE-9214-DA138AE7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Acompanhamento e controle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FBD2E31-20CC-4116-845A-DF28263A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O que aconteceu e o que depende de você, ligado à mesma tarefa.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A12576C-A94C-48CA-9AEE-EA9BC7F3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98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ask-hub">
            <a:extLst xmlns:a="http://schemas.openxmlformats.org/drawingml/2006/main">
              <a:ext uri="{FF2B5EF4-FFF2-40B4-BE49-F238E27FC236}">
                <a16:creationId xmlns:a16="http://schemas.microsoft.com/office/drawing/2014/main" id="{CFA357AD-662A-48A7-BC1B-E0866847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0375"/>
            <a:ext cx="3143250" cy="1581150"/>
          </a:xfrm>
          <a:prstGeom xmlns:a="http://schemas.openxmlformats.org/drawingml/2006/main" prst="roundRect">
            <a:avLst>
              <a:gd name="adj" fmla="val 8434"/>
            </a:avLst>
          </a:prstGeom>
          <a:solidFill xmlns:a="http://schemas.openxmlformats.org/drawingml/2006/main">
            <a:srgbClr val="526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ask-title">
            <a:extLst xmlns:a="http://schemas.openxmlformats.org/drawingml/2006/main">
              <a:ext uri="{FF2B5EF4-FFF2-40B4-BE49-F238E27FC236}">
                <a16:creationId xmlns:a16="http://schemas.microsoft.com/office/drawing/2014/main" id="{A0CB8C91-D54D-4F61-9A3D-65941F32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575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3ED"/>
                </a:solidFill>
                <a:latin typeface="Arial"/>
                <a:ea typeface="Arial"/>
                <a:cs typeface="Arial"/>
              </a:rPr>
              <a:t>Tarefa</a:t>
            </a:r>
          </a:p>
        </p:txBody>
      </p:sp>
      <p:sp>
        <p:nvSpPr>
          <p:cNvPr id="6" name="task-details">
            <a:extLst xmlns:a="http://schemas.openxmlformats.org/drawingml/2006/main">
              <a:ext uri="{FF2B5EF4-FFF2-40B4-BE49-F238E27FC236}">
                <a16:creationId xmlns:a16="http://schemas.microsoft.com/office/drawing/2014/main" id="{15EBD26B-070F-42A8-9741-0E86D8F9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528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F5F3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3ED"/>
                </a:solidFill>
                <a:latin typeface="Arial"/>
                <a:ea typeface="Arial"/>
                <a:cs typeface="Arial"/>
              </a:rPr>
              <a:t>Projeto e etapa atual</a:t>
            </a:r>
          </a:p>
        </p:txBody>
      </p:sp>
      <p:sp>
        <p:nvSpPr>
          <p:cNvPr id="7" name="task-attribute-0">
            <a:extLst xmlns:a="http://schemas.openxmlformats.org/drawingml/2006/main">
              <a:ext uri="{FF2B5EF4-FFF2-40B4-BE49-F238E27FC236}">
                <a16:creationId xmlns:a16="http://schemas.microsoft.com/office/drawing/2014/main" id="{DD7FBCC7-2989-4FAA-BAD6-61BC483B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971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attribute-title-0">
            <a:extLst xmlns:a="http://schemas.openxmlformats.org/drawingml/2006/main">
              <a:ext uri="{FF2B5EF4-FFF2-40B4-BE49-F238E27FC236}">
                <a16:creationId xmlns:a16="http://schemas.microsoft.com/office/drawing/2014/main" id="{983934BF-517D-4964-9D04-F7307D63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5260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5260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26048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9" name="attribute-detail-0">
            <a:extLst xmlns:a="http://schemas.openxmlformats.org/drawingml/2006/main">
              <a:ext uri="{FF2B5EF4-FFF2-40B4-BE49-F238E27FC236}">
                <a16:creationId xmlns:a16="http://schemas.microsoft.com/office/drawing/2014/main" id="{1447ED37-8DB5-48EA-82F1-AAD03427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Arquivos enviados à IA</a:t>
            </a:r>
          </a:p>
        </p:txBody>
      </p:sp>
      <p:sp>
        <p:nvSpPr>
          <p:cNvPr id="11" name="task-attribute-1">
            <a:extLst xmlns:a="http://schemas.openxmlformats.org/drawingml/2006/main">
              <a:ext uri="{FF2B5EF4-FFF2-40B4-BE49-F238E27FC236}">
                <a16:creationId xmlns:a16="http://schemas.microsoft.com/office/drawing/2014/main" id="{B8A9B76F-7D09-4EF3-B485-0E8AB4F9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971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attribute-title-1">
            <a:extLst xmlns:a="http://schemas.openxmlformats.org/drawingml/2006/main">
              <a:ext uri="{FF2B5EF4-FFF2-40B4-BE49-F238E27FC236}">
                <a16:creationId xmlns:a16="http://schemas.microsoft.com/office/drawing/2014/main" id="{A768CCF0-4EF1-40C0-8048-72528F14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5260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5260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26048"/>
                </a:solidFill>
                <a:latin typeface="Arial"/>
                <a:ea typeface="Arial"/>
                <a:cs typeface="Arial"/>
              </a:rPr>
              <a:t>Decisões</a:t>
            </a:r>
          </a:p>
        </p:txBody>
      </p:sp>
      <p:sp>
        <p:nvSpPr>
          <p:cNvPr id="13" name="attribute-detail-1">
            <a:extLst xmlns:a="http://schemas.openxmlformats.org/drawingml/2006/main">
              <a:ext uri="{FF2B5EF4-FFF2-40B4-BE49-F238E27FC236}">
                <a16:creationId xmlns:a16="http://schemas.microsoft.com/office/drawing/2014/main" id="{C08991A9-CA42-4DB6-981B-B4E15E57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Aprovações pendentes</a:t>
            </a:r>
          </a:p>
        </p:txBody>
      </p:sp>
      <p:sp>
        <p:nvSpPr>
          <p:cNvPr id="15" name="task-attribute-2">
            <a:extLst xmlns:a="http://schemas.openxmlformats.org/drawingml/2006/main">
              <a:ext uri="{FF2B5EF4-FFF2-40B4-BE49-F238E27FC236}">
                <a16:creationId xmlns:a16="http://schemas.microsoft.com/office/drawing/2014/main" id="{C3D83074-DE1C-4A26-B7B1-BB7C777E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3067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attribute-title-2">
            <a:extLst xmlns:a="http://schemas.openxmlformats.org/drawingml/2006/main">
              <a:ext uri="{FF2B5EF4-FFF2-40B4-BE49-F238E27FC236}">
                <a16:creationId xmlns:a16="http://schemas.microsoft.com/office/drawing/2014/main" id="{9D18F897-4962-4DDE-B935-7CD147B6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5260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5260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26048"/>
                </a:solidFill>
                <a:latin typeface="Arial"/>
                <a:ea typeface="Arial"/>
                <a:cs typeface="Arial"/>
              </a:rPr>
              <a:t>Alterações</a:t>
            </a:r>
          </a:p>
        </p:txBody>
      </p:sp>
      <p:sp>
        <p:nvSpPr>
          <p:cNvPr id="17" name="attribute-detail-2">
            <a:extLst xmlns:a="http://schemas.openxmlformats.org/drawingml/2006/main">
              <a:ext uri="{FF2B5EF4-FFF2-40B4-BE49-F238E27FC236}">
                <a16:creationId xmlns:a16="http://schemas.microsoft.com/office/drawing/2014/main" id="{2B4D5F79-D7DF-4946-8696-249152B6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955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Diff por arquivo</a:t>
            </a:r>
          </a:p>
        </p:txBody>
      </p:sp>
      <p:sp>
        <p:nvSpPr>
          <p:cNvPr id="19" name="task-attribute-3">
            <a:extLst xmlns:a="http://schemas.openxmlformats.org/drawingml/2006/main">
              <a:ext uri="{FF2B5EF4-FFF2-40B4-BE49-F238E27FC236}">
                <a16:creationId xmlns:a16="http://schemas.microsoft.com/office/drawing/2014/main" id="{6534D845-DDF1-4562-B9E6-5270845F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62350"/>
            <a:ext cx="3067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attribute-title-3">
            <a:extLst xmlns:a="http://schemas.openxmlformats.org/drawingml/2006/main">
              <a:ext uri="{FF2B5EF4-FFF2-40B4-BE49-F238E27FC236}">
                <a16:creationId xmlns:a16="http://schemas.microsoft.com/office/drawing/2014/main" id="{B8FF4556-3C8C-41B2-81EA-11650CEC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623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5260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5260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26048"/>
                </a:solidFill>
                <a:latin typeface="Arial"/>
                <a:ea typeface="Arial"/>
                <a:cs typeface="Arial"/>
              </a:rPr>
              <a:t>Validações</a:t>
            </a:r>
          </a:p>
        </p:txBody>
      </p:sp>
      <p:sp>
        <p:nvSpPr>
          <p:cNvPr id="21" name="attribute-detail-3">
            <a:extLst xmlns:a="http://schemas.openxmlformats.org/drawingml/2006/main">
              <a:ext uri="{FF2B5EF4-FFF2-40B4-BE49-F238E27FC236}">
                <a16:creationId xmlns:a16="http://schemas.microsoft.com/office/drawing/2014/main" id="{D105A923-4CD7-4B0F-AFA7-43C9D86B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671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Comandos e resultados</a:t>
            </a:r>
          </a:p>
        </p:txBody>
      </p:sp>
      <p:sp>
        <p:nvSpPr>
          <p:cNvPr id="23" name="task-attribute-4">
            <a:extLst xmlns:a="http://schemas.openxmlformats.org/drawingml/2006/main">
              <a:ext uri="{FF2B5EF4-FFF2-40B4-BE49-F238E27FC236}">
                <a16:creationId xmlns:a16="http://schemas.microsoft.com/office/drawing/2014/main" id="{D45005E4-3EC9-45DA-8E31-E23F52B7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33950"/>
            <a:ext cx="3067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attribute-title-4">
            <a:extLst xmlns:a="http://schemas.openxmlformats.org/drawingml/2006/main">
              <a:ext uri="{FF2B5EF4-FFF2-40B4-BE49-F238E27FC236}">
                <a16:creationId xmlns:a16="http://schemas.microsoft.com/office/drawing/2014/main" id="{A428B019-CE02-40C7-9DC1-06DA5AE2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339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5260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5260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26048"/>
                </a:solidFill>
                <a:latin typeface="Arial"/>
                <a:ea typeface="Arial"/>
                <a:cs typeface="Arial"/>
              </a:rPr>
              <a:t>Consumo</a:t>
            </a:r>
          </a:p>
        </p:txBody>
      </p:sp>
      <p:sp>
        <p:nvSpPr>
          <p:cNvPr id="25" name="attribute-detail-4">
            <a:extLst xmlns:a="http://schemas.openxmlformats.org/drawingml/2006/main">
              <a:ext uri="{FF2B5EF4-FFF2-40B4-BE49-F238E27FC236}">
                <a16:creationId xmlns:a16="http://schemas.microsoft.com/office/drawing/2014/main" id="{8C35A42F-B7B8-4346-AE6C-73C3B361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387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Tokens reportados</a:t>
            </a:r>
          </a:p>
        </p:txBody>
      </p:sp>
    </p:spTree>
    <p:extLst>
      <p:ext uri="{BB962C8B-B14F-4D97-AF65-F5344CB8AC3E}">
        <p14:creationId xmlns:p14="http://schemas.microsoft.com/office/powerpoint/2010/main" val="12213853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688FB-1CEC-4800-B55B-F6456207D17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67600" y="37909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48"/>
            </a:solidFill>
            <a:prstDash val="solid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2BD2D-549A-4152-803C-4BEF4E127E3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543300" y="37909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48"/>
            </a:solidFill>
            <a:prstDash val="solid"/>
            <a:tailEnd type="triangle" w="med" len="med"/>
          </a:ln>
        </p:spPr>
      </p:cxn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3C91FA-2588-497B-A607-E45365C2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Exemplo: correção de um bug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D7829CE-37E6-4EA7-93E7-A5B87645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Exemplo ilustrativo de uso do fluxo “Corrigir bug”.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109C20-4716-47B0-B3B8-7D1DB61C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98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example-request">
            <a:extLst xmlns:a="http://schemas.openxmlformats.org/drawingml/2006/main">
              <a:ext uri="{FF2B5EF4-FFF2-40B4-BE49-F238E27FC236}">
                <a16:creationId xmlns:a16="http://schemas.microsoft.com/office/drawing/2014/main" id="{6B637292-2B19-4709-97E8-953F5A81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857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19050">
            <a:solidFill>
              <a:srgbClr val="DFE1D6"/>
            </a:solidFill>
            <a:prstDash val="solid"/>
          </a:ln>
        </p:spPr>
      </p:sp>
      <p:sp>
        <p:nvSpPr>
          <p:cNvPr id="5" name="request-label">
            <a:extLst xmlns:a="http://schemas.openxmlformats.org/drawingml/2006/main">
              <a:ext uri="{FF2B5EF4-FFF2-40B4-BE49-F238E27FC236}">
                <a16:creationId xmlns:a16="http://schemas.microsoft.com/office/drawing/2014/main" id="{ED660C45-E86F-4CE6-8105-620143DB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8E61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8E61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E6143"/>
                </a:solidFill>
                <a:latin typeface="Arial"/>
                <a:ea typeface="Arial"/>
                <a:cs typeface="Arial"/>
              </a:rPr>
              <a:t>Pedido</a:t>
            </a:r>
          </a:p>
        </p:txBody>
      </p:sp>
      <p:sp>
        <p:nvSpPr>
          <p:cNvPr id="6" name="request-text">
            <a:extLst xmlns:a="http://schemas.openxmlformats.org/drawingml/2006/main">
              <a:ext uri="{FF2B5EF4-FFF2-40B4-BE49-F238E27FC236}">
                <a16:creationId xmlns:a16="http://schemas.microsoft.com/office/drawing/2014/main" id="{2A9FC083-F318-49AE-B379-9F6BFA03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2438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A tela trava</a:t>
            </a:r>
          </a:p>
          <a:p xmlns:a="http://schemas.openxmlformats.org/drawingml/2006/main">
            <a:pPr algn="l">
              <a:defRPr sz="2550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ao salvar</a:t>
            </a:r>
          </a:p>
          <a:p xmlns:a="http://schemas.openxmlformats.org/drawingml/2006/main">
            <a:pPr algn="l">
              <a:defRPr sz="2550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o formulário.</a:t>
            </a:r>
          </a:p>
        </p:txBody>
      </p:sp>
      <p:sp>
        <p:nvSpPr>
          <p:cNvPr id="7" name="example-work">
            <a:extLst xmlns:a="http://schemas.openxmlformats.org/drawingml/2006/main">
              <a:ext uri="{FF2B5EF4-FFF2-40B4-BE49-F238E27FC236}">
                <a16:creationId xmlns:a16="http://schemas.microsoft.com/office/drawing/2014/main" id="{B1E5983D-DCA9-4873-A908-7EC207C7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57450"/>
            <a:ext cx="3238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526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F84C2475-31C6-4E3C-92BC-CE1EEA48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BDCC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DCCA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DCCA7"/>
                </a:solidFill>
                <a:latin typeface="Arial"/>
                <a:ea typeface="Arial"/>
                <a:cs typeface="Arial"/>
              </a:rPr>
              <a:t>No Fronda</a:t>
            </a:r>
          </a:p>
        </p:txBody>
      </p:sp>
      <p:sp>
        <p:nvSpPr>
          <p:cNvPr id="9" name="work-text">
            <a:extLst xmlns:a="http://schemas.openxmlformats.org/drawingml/2006/main">
              <a:ext uri="{FF2B5EF4-FFF2-40B4-BE49-F238E27FC236}">
                <a16:creationId xmlns:a16="http://schemas.microsoft.com/office/drawing/2014/main" id="{703AA7EA-51B0-4374-A743-76EFD798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24225"/>
            <a:ext cx="27432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F5F3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3ED"/>
                </a:solidFill>
                <a:latin typeface="Arial"/>
                <a:ea typeface="Arial"/>
                <a:cs typeface="Arial"/>
              </a:rPr>
              <a:t>Investigar e reproduzir</a:t>
            </a:r>
          </a:p>
          <a:p xmlns:a="http://schemas.openxmlformats.org/drawingml/2006/main">
            <a:pPr algn="l">
              <a:defRPr sz="2025" b="0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3ED"/>
                </a:solidFill>
                <a:latin typeface="Arial"/>
                <a:ea typeface="Arial"/>
                <a:cs typeface="Arial"/>
              </a:rPr>
              <a:t>Implementar a correção</a:t>
            </a:r>
          </a:p>
          <a:p xmlns:a="http://schemas.openxmlformats.org/drawingml/2006/main">
            <a:pPr algn="l">
              <a:defRPr sz="2025" b="0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3ED"/>
                </a:solidFill>
                <a:latin typeface="Arial"/>
                <a:ea typeface="Arial"/>
                <a:cs typeface="Arial"/>
              </a:rPr>
              <a:t>Validar e revisar</a:t>
            </a:r>
          </a:p>
        </p:txBody>
      </p:sp>
      <p:sp>
        <p:nvSpPr>
          <p:cNvPr id="10" name="example-result">
            <a:extLst xmlns:a="http://schemas.openxmlformats.org/drawingml/2006/main">
              <a:ext uri="{FF2B5EF4-FFF2-40B4-BE49-F238E27FC236}">
                <a16:creationId xmlns:a16="http://schemas.microsoft.com/office/drawing/2014/main" id="{E198DFD6-529A-4CE1-8BF3-3BC9C90A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3528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6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A474BD18-60BE-45FF-96D5-7EF2DAFC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5260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52604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6048"/>
                </a:solidFill>
                <a:latin typeface="Arial"/>
                <a:ea typeface="Arial"/>
                <a:cs typeface="Arial"/>
              </a:rPr>
              <a:t>Para sua revisão</a:t>
            </a:r>
          </a:p>
        </p:txBody>
      </p:sp>
      <p:sp>
        <p:nvSpPr>
          <p:cNvPr id="12" name="result-text">
            <a:extLst xmlns:a="http://schemas.openxmlformats.org/drawingml/2006/main">
              <a:ext uri="{FF2B5EF4-FFF2-40B4-BE49-F238E27FC236}">
                <a16:creationId xmlns:a16="http://schemas.microsoft.com/office/drawing/2014/main" id="{32461EB0-9CCF-4E34-965E-65AD79EE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1470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D18"/>
                </a:solidFill>
                <a:latin typeface="Arial"/>
                <a:ea typeface="Arial"/>
                <a:cs typeface="Arial"/>
              </a:rPr>
              <a:t>Diff da correção</a:t>
            </a:r>
          </a:p>
          <a:p xmlns:a="http://schemas.openxmlformats.org/drawingml/2006/main">
            <a:pPr algn="l">
              <a:defRPr sz="2025" b="0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D18"/>
                </a:solidFill>
                <a:latin typeface="Arial"/>
                <a:ea typeface="Arial"/>
                <a:cs typeface="Arial"/>
              </a:rPr>
              <a:t>Validações registradas</a:t>
            </a:r>
          </a:p>
          <a:p xmlns:a="http://schemas.openxmlformats.org/drawingml/2006/main">
            <a:pPr algn="l">
              <a:defRPr sz="2025" b="0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D18"/>
                </a:solidFill>
                <a:latin typeface="Arial"/>
                <a:ea typeface="Arial"/>
                <a:cs typeface="Arial"/>
              </a:rPr>
              <a:t>Critérios com evidências</a:t>
            </a:r>
          </a:p>
        </p:txBody>
      </p:sp>
      <p:sp>
        <p:nvSpPr>
          <p:cNvPr id="15" name="publication-approval">
            <a:extLst xmlns:a="http://schemas.openxmlformats.org/drawingml/2006/main">
              <a:ext uri="{FF2B5EF4-FFF2-40B4-BE49-F238E27FC236}">
                <a16:creationId xmlns:a16="http://schemas.microsoft.com/office/drawing/2014/main" id="{E7AE6FD2-E9F9-487E-8AE8-9253D3F2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8E61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8E61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E6143"/>
                </a:solidFill>
                <a:latin typeface="Arial"/>
                <a:ea typeface="Arial"/>
                <a:cs typeface="Arial"/>
              </a:rPr>
              <a:t>Publicar no repositório exige uma aprovação separada.</a:t>
            </a:r>
          </a:p>
        </p:txBody>
      </p:sp>
    </p:spTree>
    <p:extLst>
      <p:ext uri="{BB962C8B-B14F-4D97-AF65-F5344CB8AC3E}">
        <p14:creationId xmlns:p14="http://schemas.microsoft.com/office/powerpoint/2010/main" val="9549972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19037-ED6C-48A0-8E98-AC846A8AEDAD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6705600" y="2962275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48"/>
            </a:solidFill>
            <a:prstDash val="solid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3159A5-52D4-4993-8A1D-70F49C82C137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952750" y="2962275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48"/>
            </a:solidFill>
            <a:prstDash val="solid"/>
            <a:tailEnd type="triangle" w="med" len="med"/>
          </a:ln>
        </p:spPr>
      </p:cxnSp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6EB93D-D8D6-4B74-8880-3728C726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Primeiro uso com o time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DC06B9B-0DD2-49BA-A438-444D6510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Proposta de piloto com uma tarefa de escopo pequeno.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870EA17-1A07-4E1B-B548-7921BC38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98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pilot-step-0">
            <a:extLst xmlns:a="http://schemas.openxmlformats.org/drawingml/2006/main">
              <a:ext uri="{FF2B5EF4-FFF2-40B4-BE49-F238E27FC236}">
                <a16:creationId xmlns:a16="http://schemas.microsoft.com/office/drawing/2014/main" id="{C24CF2BF-5FDB-498C-95F6-EF31A8B4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76475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B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250" b="1">
                <a:solidFill>
                  <a:srgbClr val="5260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250" b="1">
                <a:solidFill>
                  <a:srgbClr val="526048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52604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pilot-title-0">
            <a:extLst xmlns:a="http://schemas.openxmlformats.org/drawingml/2006/main">
              <a:ext uri="{FF2B5EF4-FFF2-40B4-BE49-F238E27FC236}">
                <a16:creationId xmlns:a16="http://schemas.microsoft.com/office/drawing/2014/main" id="{C48C9560-3E45-4DFD-9A26-CB270F6D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19525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projeto</a:t>
            </a:r>
          </a:p>
        </p:txBody>
      </p:sp>
      <p:sp>
        <p:nvSpPr>
          <p:cNvPr id="6" name="pilot-detail-0">
            <a:extLst xmlns:a="http://schemas.openxmlformats.org/drawingml/2006/main">
              <a:ext uri="{FF2B5EF4-FFF2-40B4-BE49-F238E27FC236}">
                <a16:creationId xmlns:a16="http://schemas.microsoft.com/office/drawing/2014/main" id="{B00302AA-8E81-4E7E-B396-614C5A9B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Repositório conhecido</a:t>
            </a:r>
          </a:p>
        </p:txBody>
      </p:sp>
      <p:sp>
        <p:nvSpPr>
          <p:cNvPr id="7" name="pilot-step-1">
            <a:extLst xmlns:a="http://schemas.openxmlformats.org/drawingml/2006/main">
              <a:ext uri="{FF2B5EF4-FFF2-40B4-BE49-F238E27FC236}">
                <a16:creationId xmlns:a16="http://schemas.microsoft.com/office/drawing/2014/main" id="{3937D7CE-1395-403B-8724-412DB30A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76475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B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250" b="1">
                <a:solidFill>
                  <a:srgbClr val="5260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250" b="1">
                <a:solidFill>
                  <a:srgbClr val="526048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52604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pilot-title-1">
            <a:extLst xmlns:a="http://schemas.openxmlformats.org/drawingml/2006/main">
              <a:ext uri="{FF2B5EF4-FFF2-40B4-BE49-F238E27FC236}">
                <a16:creationId xmlns:a16="http://schemas.microsoft.com/office/drawing/2014/main" id="{2E801F50-2A05-4B54-A266-CDA5F3D7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19525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tarefa</a:t>
            </a:r>
          </a:p>
        </p:txBody>
      </p:sp>
      <p:sp>
        <p:nvSpPr>
          <p:cNvPr id="9" name="pilot-detail-1">
            <a:extLst xmlns:a="http://schemas.openxmlformats.org/drawingml/2006/main">
              <a:ext uri="{FF2B5EF4-FFF2-40B4-BE49-F238E27FC236}">
                <a16:creationId xmlns:a16="http://schemas.microsoft.com/office/drawing/2014/main" id="{096DEFB1-A349-4016-AC72-9F043158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Critérios claros</a:t>
            </a:r>
          </a:p>
        </p:txBody>
      </p:sp>
      <p:sp>
        <p:nvSpPr>
          <p:cNvPr id="10" name="pilot-step-2">
            <a:extLst xmlns:a="http://schemas.openxmlformats.org/drawingml/2006/main">
              <a:ext uri="{FF2B5EF4-FFF2-40B4-BE49-F238E27FC236}">
                <a16:creationId xmlns:a16="http://schemas.microsoft.com/office/drawing/2014/main" id="{7D07CF16-1101-41E9-9B6E-15A7B506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76475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04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25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250" b="1">
                <a:solidFill>
                  <a:srgbClr val="F5F3ED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5F3E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pilot-title-2">
            <a:extLst xmlns:a="http://schemas.openxmlformats.org/drawingml/2006/main">
              <a:ext uri="{FF2B5EF4-FFF2-40B4-BE49-F238E27FC236}">
                <a16:creationId xmlns:a16="http://schemas.microsoft.com/office/drawing/2014/main" id="{06496D44-5594-46BC-8A21-FD654792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819525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91D1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D18"/>
                </a:solidFill>
                <a:latin typeface="Arial"/>
                <a:ea typeface="Arial"/>
                <a:cs typeface="Arial"/>
              </a:rPr>
              <a:t>revisão conjunta</a:t>
            </a:r>
          </a:p>
        </p:txBody>
      </p:sp>
      <p:sp>
        <p:nvSpPr>
          <p:cNvPr id="12" name="pilot-detail-2">
            <a:extLst xmlns:a="http://schemas.openxmlformats.org/drawingml/2006/main">
              <a:ext uri="{FF2B5EF4-FFF2-40B4-BE49-F238E27FC236}">
                <a16:creationId xmlns:a16="http://schemas.microsoft.com/office/drawing/2014/main" id="{1584BAF4-62F7-4B96-9509-BAB124E0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815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Conferir o resultado</a:t>
            </a:r>
          </a:p>
        </p:txBody>
      </p:sp>
      <p:sp>
        <p:nvSpPr>
          <p:cNvPr id="15" name="pilot-evaluation">
            <a:extLst xmlns:a="http://schemas.openxmlformats.org/drawingml/2006/main">
              <a:ext uri="{FF2B5EF4-FFF2-40B4-BE49-F238E27FC236}">
                <a16:creationId xmlns:a16="http://schemas.microsoft.com/office/drawing/2014/main" id="{4FC10178-AD09-43BC-8416-1555E2EE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29225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5260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260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048"/>
                </a:solidFill>
                <a:latin typeface="Arial"/>
                <a:ea typeface="Arial"/>
                <a:cs typeface="Arial"/>
              </a:rPr>
              <a:t>Avaliar clareza da revisão, retrabalho e tempo até a entrega.</a:t>
            </a:r>
          </a:p>
        </p:txBody>
      </p:sp>
      <p:sp>
        <p:nvSpPr>
          <p:cNvPr id="16" name="maturity-note">
            <a:extLst xmlns:a="http://schemas.openxmlformats.org/drawingml/2006/main">
              <a:ext uri="{FF2B5EF4-FFF2-40B4-BE49-F238E27FC236}">
                <a16:creationId xmlns:a16="http://schemas.microsoft.com/office/drawing/2014/main" id="{0BD44B8F-6F3C-416A-870D-2D9401AB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048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Estado atual: implementação local para macOS. Claude, integrações remotas</a:t>
            </a:r>
          </a:p>
          <a:p xmlns:a="http://schemas.openxmlformats.org/drawingml/2006/main">
            <a:pPr algn="l">
              <a:defRPr sz="1725" b="0">
                <a:solidFill>
                  <a:srgbClr val="656D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D5F"/>
                </a:solidFill>
                <a:latin typeface="Arial"/>
                <a:ea typeface="Arial"/>
                <a:cs typeface="Arial"/>
              </a:rPr>
              <a:t>e distribuição ainda têm validações pendentes.</a:t>
            </a:r>
          </a:p>
        </p:txBody>
      </p:sp>
    </p:spTree>
    <p:extLst>
      <p:ext uri="{BB962C8B-B14F-4D97-AF65-F5344CB8AC3E}">
        <p14:creationId xmlns:p14="http://schemas.microsoft.com/office/powerpoint/2010/main" val="1497683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2026-10-08T04:13:24.0030000Z</dcterms:created>
  <dcterms:modified xsi:type="dcterms:W3CDTF">2026-10-08T04:13:24.0030000Z</dcterms:modified>
</coreProperties>
</file>